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86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914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91440"/>
            <a:ext cx="5468815" cy="4572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50317"/>
            <a:ext cx="9601200" cy="801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 •   OPERATING SYSTEMS   •   CYBER SECURITY   •   DBMS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Smart Laboratory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Management System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0080" y="2795954"/>
            <a:ext cx="8778240" cy="958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Raspberry Pi based platform for RFID-authenticated, mutex-safe equipment allocation with encrypted audit logging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2" name="Image 1" descr="icon_rf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5538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5989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Auth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46120" y="544068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5" name="Image 2" descr="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77" y="555383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5989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852160" y="544068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8" name="Image 3" descr="icon_encry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317" y="55538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0" y="5989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Encrypted Logs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458200" y="544068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21" name="Image 4" descr="icon_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57" y="5553837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1040" y="5989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DBMS</a:t>
            </a:r>
            <a:endParaRPr lang="en-US" sz="1050" dirty="0"/>
          </a:p>
        </p:txBody>
      </p:sp>
      <p:sp>
        <p:nvSpPr>
          <p:cNvPr id="25" name="TextBox 24"/>
          <p:cNvSpPr txBox="1"/>
          <p:nvPr/>
        </p:nvSpPr>
        <p:spPr>
          <a:xfrm>
            <a:off x="835269" y="3930162"/>
            <a:ext cx="551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Harinilekha</a:t>
            </a:r>
            <a:r>
              <a:rPr lang="en-US" dirty="0" smtClean="0">
                <a:solidFill>
                  <a:schemeClr val="bg1"/>
                </a:solidFill>
              </a:rPr>
              <a:t> R - CH.SC.U4CYS25011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Nandika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</a:t>
            </a:r>
            <a:r>
              <a:rPr lang="en-US" dirty="0" err="1" smtClean="0">
                <a:solidFill>
                  <a:schemeClr val="bg1"/>
                </a:solidFill>
              </a:rPr>
              <a:t>azhini</a:t>
            </a:r>
            <a:r>
              <a:rPr lang="en-US" dirty="0" smtClean="0">
                <a:solidFill>
                  <a:schemeClr val="bg1"/>
                </a:solidFill>
              </a:rPr>
              <a:t> – CH.SC.U4CYS25021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automation, working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37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6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17339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181051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revolutionize laboratory resource management by integrating IoT, OS principles, cybersecurity, and database management into one seamless, secure system.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538728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697480"/>
            <a:ext cx="3538728" cy="7315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0632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2" name="Image 1" descr="icon_rf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2278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Authentication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68680" y="4663440"/>
            <a:ext cx="2898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authorized personnel only using secure RFID UID verification.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43400" y="2697480"/>
            <a:ext cx="3538728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</p:spPr>
      </p:sp>
      <p:sp>
        <p:nvSpPr>
          <p:cNvPr id="16" name="Shape 12"/>
          <p:cNvSpPr/>
          <p:nvPr/>
        </p:nvSpPr>
        <p:spPr>
          <a:xfrm>
            <a:off x="4343400" y="2697480"/>
            <a:ext cx="3538728" cy="7315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7" name="Shape 13"/>
          <p:cNvSpPr/>
          <p:nvPr/>
        </p:nvSpPr>
        <p:spPr>
          <a:xfrm>
            <a:off x="4663440" y="30632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8" name="Image 2" descr="icon_pro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2278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Resource Allocation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63440" y="4663440"/>
            <a:ext cx="2898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equipment distribution and prevent conflicts using OS-level Mutex and Scheduling.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38160" y="2697480"/>
            <a:ext cx="3538728" cy="3246120"/>
          </a:xfrm>
          <a:prstGeom prst="roundRect">
            <a:avLst>
              <a:gd name="adj" fmla="val 2535"/>
            </a:avLst>
          </a:prstGeom>
          <a:solidFill>
            <a:srgbClr val="F4F5FA"/>
          </a:solidFill>
          <a:ln/>
        </p:spPr>
      </p:sp>
      <p:sp>
        <p:nvSpPr>
          <p:cNvPr id="22" name="Shape 17"/>
          <p:cNvSpPr/>
          <p:nvPr/>
        </p:nvSpPr>
        <p:spPr>
          <a:xfrm>
            <a:off x="8138160" y="2697480"/>
            <a:ext cx="3538728" cy="7315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3" name="Shape 18"/>
          <p:cNvSpPr/>
          <p:nvPr/>
        </p:nvSpPr>
        <p:spPr>
          <a:xfrm>
            <a:off x="8458200" y="3063240"/>
            <a:ext cx="731520" cy="7315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4" name="Image 3" descr="icon_encry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322783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58200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Audit Trails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458200" y="4663440"/>
            <a:ext cx="2898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tamper-proof logs with AES encryption for comprehensive usage monitoring.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organized by function, plus the software stack that ties 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64992" cy="2084832"/>
          </a:xfrm>
          <a:prstGeom prst="roundRect">
            <a:avLst>
              <a:gd name="adj" fmla="val 3509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6" name="Image 0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173164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184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68096" y="2340864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203704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— the central brain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" y="2743200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60604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 RFID Reader — user ID module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8096" y="3145536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008376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Tags/Cards — unique UIDs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33088" y="1417320"/>
            <a:ext cx="3364992" cy="2084832"/>
          </a:xfrm>
          <a:prstGeom prst="roundRect">
            <a:avLst>
              <a:gd name="adj" fmla="val 3509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4256" y="1618488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6" name="Image 1" descr="icon_ser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413" y="1731645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56048" y="16184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Actuators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352544" y="2340864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9" name="Text 15"/>
          <p:cNvSpPr/>
          <p:nvPr/>
        </p:nvSpPr>
        <p:spPr>
          <a:xfrm>
            <a:off x="4517136" y="2203704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— electronic lock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52544" y="2743200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1" name="Text 17"/>
          <p:cNvSpPr/>
          <p:nvPr/>
        </p:nvSpPr>
        <p:spPr>
          <a:xfrm>
            <a:off x="4517136" y="260604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— unauthorized-access alert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3721608"/>
            <a:ext cx="3364992" cy="2084832"/>
          </a:xfrm>
          <a:prstGeom prst="roundRect">
            <a:avLst>
              <a:gd name="adj" fmla="val 3509"/>
            </a:avLst>
          </a:prstGeom>
          <a:solidFill>
            <a:srgbClr val="F4F5FA"/>
          </a:solidFill>
          <a:ln/>
        </p:spPr>
      </p:sp>
      <p:sp>
        <p:nvSpPr>
          <p:cNvPr id="23" name="Shape 19"/>
          <p:cNvSpPr/>
          <p:nvPr/>
        </p:nvSpPr>
        <p:spPr>
          <a:xfrm>
            <a:off x="749808" y="3922776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4" name="Image 2" descr="icon_l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" y="4035933"/>
            <a:ext cx="276606" cy="27660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92277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768096" y="4645152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7" name="Text 22"/>
          <p:cNvSpPr/>
          <p:nvPr/>
        </p:nvSpPr>
        <p:spPr>
          <a:xfrm>
            <a:off x="932688" y="4507992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with I2C — status display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768096" y="5047488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9" name="Text 24"/>
          <p:cNvSpPr/>
          <p:nvPr/>
        </p:nvSpPr>
        <p:spPr>
          <a:xfrm>
            <a:off x="932688" y="491032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Indicators — green / red feedback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133088" y="3721608"/>
            <a:ext cx="3364992" cy="2084832"/>
          </a:xfrm>
          <a:prstGeom prst="roundRect">
            <a:avLst>
              <a:gd name="adj" fmla="val 3509"/>
            </a:avLst>
          </a:prstGeom>
          <a:solidFill>
            <a:srgbClr val="F4F5FA"/>
          </a:solidFill>
          <a:ln/>
        </p:spPr>
      </p:sp>
      <p:sp>
        <p:nvSpPr>
          <p:cNvPr id="31" name="Shape 26"/>
          <p:cNvSpPr/>
          <p:nvPr/>
        </p:nvSpPr>
        <p:spPr>
          <a:xfrm>
            <a:off x="4334256" y="3922776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32" name="Image 3" descr="icon_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413" y="4035933"/>
            <a:ext cx="276606" cy="27660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956048" y="392277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34" name="Shape 28"/>
          <p:cNvSpPr/>
          <p:nvPr/>
        </p:nvSpPr>
        <p:spPr>
          <a:xfrm>
            <a:off x="4352544" y="4645152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35" name="Text 29"/>
          <p:cNvSpPr/>
          <p:nvPr/>
        </p:nvSpPr>
        <p:spPr>
          <a:xfrm>
            <a:off x="4517136" y="4507992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352544" y="5047488"/>
            <a:ext cx="64008" cy="6400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37" name="Text 31"/>
          <p:cNvSpPr/>
          <p:nvPr/>
        </p:nvSpPr>
        <p:spPr>
          <a:xfrm>
            <a:off x="4517136" y="491032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adapter — stable 5V/3A supply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809244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1A237E"/>
          </a:solidFill>
          <a:ln/>
        </p:spPr>
      </p:sp>
      <p:sp>
        <p:nvSpPr>
          <p:cNvPr id="39" name="Shape 33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40" name="Image 4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917" y="1804797"/>
            <a:ext cx="276606" cy="27660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006840" y="1764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8366760" y="2560320"/>
            <a:ext cx="73152" cy="731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43" name="Text 36"/>
          <p:cNvSpPr/>
          <p:nvPr/>
        </p:nvSpPr>
        <p:spPr>
          <a:xfrm>
            <a:off x="8567928" y="24140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OS (Linux)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8366760" y="2980944"/>
            <a:ext cx="73152" cy="731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45" name="Text 38"/>
          <p:cNvSpPr/>
          <p:nvPr/>
        </p:nvSpPr>
        <p:spPr>
          <a:xfrm>
            <a:off x="8567928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8366760" y="3401568"/>
            <a:ext cx="73152" cy="731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47" name="Text 40"/>
          <p:cNvSpPr/>
          <p:nvPr/>
        </p:nvSpPr>
        <p:spPr>
          <a:xfrm>
            <a:off x="8567928" y="32552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8366760" y="3822192"/>
            <a:ext cx="73152" cy="731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49" name="Text 42"/>
          <p:cNvSpPr/>
          <p:nvPr/>
        </p:nvSpPr>
        <p:spPr>
          <a:xfrm>
            <a:off x="8567928" y="36758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Thonny IDE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8366760" y="4242816"/>
            <a:ext cx="73152" cy="731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51" name="Text 44"/>
          <p:cNvSpPr/>
          <p:nvPr/>
        </p:nvSpPr>
        <p:spPr>
          <a:xfrm>
            <a:off x="8567928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(version control)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8366760" y="4709160"/>
            <a:ext cx="2971800" cy="0"/>
          </a:xfrm>
          <a:prstGeom prst="line">
            <a:avLst/>
          </a:prstGeom>
          <a:noFill/>
          <a:ln w="12700">
            <a:solidFill>
              <a:srgbClr val="FF6D00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8366760" y="48463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INTEGRATED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8366760" y="5120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Operating Systems · Cyber Security · DBMS</a:t>
            </a:r>
            <a:endParaRPr lang="en-US" sz="1150" dirty="0"/>
          </a:p>
        </p:txBody>
      </p:sp>
      <p:sp>
        <p:nvSpPr>
          <p:cNvPr id="55" name="Text 4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System Concepts in Action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equipment request is handled like a classic OS resource-management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6420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7" name="Image 0" descr="icon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76707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4028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67004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3232" y="287121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RFID request is treated as an incoming process handled by the Pi.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60420" y="146304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12" name="Shape 9"/>
          <p:cNvSpPr/>
          <p:nvPr/>
        </p:nvSpPr>
        <p:spPr>
          <a:xfrm>
            <a:off x="3360420" y="146304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43300" y="166420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4" name="Image 1" descr="icon_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767078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5012" y="224028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5012" y="267004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525012" y="287121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scheduled and serviced in a defined, fair order.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46304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19" name="Shape 15"/>
          <p:cNvSpPr/>
          <p:nvPr/>
        </p:nvSpPr>
        <p:spPr>
          <a:xfrm>
            <a:off x="6172200" y="146304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0" name="Shape 16"/>
          <p:cNvSpPr/>
          <p:nvPr/>
        </p:nvSpPr>
        <p:spPr>
          <a:xfrm>
            <a:off x="6355080" y="166420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1" name="Image 2" descr="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767078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36792" y="224028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36792" y="267004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336792" y="287121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mutex lock ensures only one student can hold a given item at a time.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983980" y="146304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26" name="Shape 21"/>
          <p:cNvSpPr/>
          <p:nvPr/>
        </p:nvSpPr>
        <p:spPr>
          <a:xfrm>
            <a:off x="8983980" y="146304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7" name="Shape 22"/>
          <p:cNvSpPr/>
          <p:nvPr/>
        </p:nvSpPr>
        <p:spPr>
          <a:xfrm>
            <a:off x="9166860" y="166420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8" name="Image 3" descr="icon_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730" y="1767078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8572" y="224028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48572" y="267004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9148572" y="287121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allocated only when free — mirrors OS resource management.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402336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33" name="Shape 27"/>
          <p:cNvSpPr/>
          <p:nvPr/>
        </p:nvSpPr>
        <p:spPr>
          <a:xfrm>
            <a:off x="548640" y="402336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4" name="Shape 28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35" name="Image 4" descr="icon_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4327398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" y="480060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3232" y="523036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713232" y="543153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DB update, and locking stay consistent under concurrent access.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360420" y="402336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40" name="Shape 33"/>
          <p:cNvSpPr/>
          <p:nvPr/>
        </p:nvSpPr>
        <p:spPr>
          <a:xfrm>
            <a:off x="3360420" y="402336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1" name="Shape 34"/>
          <p:cNvSpPr/>
          <p:nvPr/>
        </p:nvSpPr>
        <p:spPr>
          <a:xfrm>
            <a:off x="3543300" y="422452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42" name="Image 5" descr="icon_que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170" y="4327398"/>
            <a:ext cx="251460" cy="2514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525012" y="480060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Scheduling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3525012" y="523036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3525012" y="543153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in a FIFO queue when equipment is unavailable.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172200" y="402336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/>
        </p:spPr>
      </p:sp>
      <p:sp>
        <p:nvSpPr>
          <p:cNvPr id="47" name="Shape 39"/>
          <p:cNvSpPr/>
          <p:nvPr/>
        </p:nvSpPr>
        <p:spPr>
          <a:xfrm>
            <a:off x="6172200" y="4023360"/>
            <a:ext cx="26289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8" name="Shape 40"/>
          <p:cNvSpPr/>
          <p:nvPr/>
        </p:nvSpPr>
        <p:spPr>
          <a:xfrm>
            <a:off x="6355080" y="4224528"/>
            <a:ext cx="457200" cy="45720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49" name="Image 6" descr="icon_interru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4327398"/>
            <a:ext cx="251460" cy="25146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336792" y="4800600"/>
            <a:ext cx="2299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6336792" y="5230368"/>
            <a:ext cx="22997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APPLICATION</a:t>
            </a:r>
            <a:endParaRPr lang="en-US" sz="750" dirty="0"/>
          </a:p>
        </p:txBody>
      </p:sp>
      <p:sp>
        <p:nvSpPr>
          <p:cNvPr id="52" name="Text 43"/>
          <p:cNvSpPr/>
          <p:nvPr/>
        </p:nvSpPr>
        <p:spPr>
          <a:xfrm>
            <a:off x="6336792" y="5431536"/>
            <a:ext cx="2299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scans trigger an immediate buzzer/LED interrupt response.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8983980" y="4023360"/>
            <a:ext cx="2628900" cy="2286000"/>
          </a:xfrm>
          <a:prstGeom prst="roundRect">
            <a:avLst>
              <a:gd name="adj" fmla="val 3200"/>
            </a:avLst>
          </a:prstGeom>
          <a:solidFill>
            <a:srgbClr val="1A237E"/>
          </a:solidFill>
          <a:ln/>
        </p:spPr>
      </p:sp>
      <p:sp>
        <p:nvSpPr>
          <p:cNvPr id="54" name="Shape 45"/>
          <p:cNvSpPr/>
          <p:nvPr/>
        </p:nvSpPr>
        <p:spPr>
          <a:xfrm>
            <a:off x="9166860" y="4224528"/>
            <a:ext cx="457200" cy="45720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55" name="Image 7" descr="icon_shield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9730" y="4327398"/>
            <a:ext cx="251460" cy="25146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9148572" y="4800600"/>
            <a:ext cx="2299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57" name="Text 47"/>
          <p:cNvSpPr/>
          <p:nvPr/>
        </p:nvSpPr>
        <p:spPr>
          <a:xfrm>
            <a:off x="9148572" y="5166360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conflict-free equipment sharing among many students, using proven OS fundamentals.</a:t>
            </a:r>
            <a:endParaRPr lang="en-US" sz="1100" dirty="0"/>
          </a:p>
        </p:txBody>
      </p:sp>
      <p:sp>
        <p:nvSpPr>
          <p:cNvPr id="58" name="Text 4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8"/>
          <p:cNvSpPr/>
          <p:nvPr/>
        </p:nvSpPr>
        <p:spPr>
          <a:xfrm>
            <a:off x="2093976" y="217627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(Linux)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613916" y="314553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50692" y="3264408"/>
            <a:ext cx="274320" cy="2743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0" name="Image 3" descr="icon_encry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14" y="3326130"/>
            <a:ext cx="150876" cy="15087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080260" y="3657600"/>
            <a:ext cx="0" cy="22860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046220" y="3657600"/>
            <a:ext cx="0" cy="22860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080260" y="3886200"/>
            <a:ext cx="196596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063240" y="3886200"/>
            <a:ext cx="0" cy="228600"/>
          </a:xfrm>
          <a:prstGeom prst="line">
            <a:avLst/>
          </a:prstGeom>
          <a:noFill/>
          <a:ln w="28575">
            <a:solidFill>
              <a:srgbClr val="FF6D00"/>
            </a:solidFill>
            <a:prstDash val="solid"/>
            <a:tailEnd type="triangle"/>
          </a:ln>
        </p:spPr>
      </p:sp>
      <p:sp>
        <p:nvSpPr>
          <p:cNvPr id="29" name="Text 22"/>
          <p:cNvSpPr/>
          <p:nvPr/>
        </p:nvSpPr>
        <p:spPr>
          <a:xfrm>
            <a:off x="950976" y="41148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Lock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286000" y="4114800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FF6D00"/>
          </a:solidFill>
          <a:ln/>
        </p:spPr>
      </p:sp>
      <p:sp>
        <p:nvSpPr>
          <p:cNvPr id="31" name="Shape 24"/>
          <p:cNvSpPr/>
          <p:nvPr/>
        </p:nvSpPr>
        <p:spPr>
          <a:xfrm>
            <a:off x="2359152" y="4233672"/>
            <a:ext cx="274320" cy="2743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32" name="Image 5" descr="icon_l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874" y="4295394"/>
            <a:ext cx="150876" cy="1508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88336" y="41148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023360" y="4114800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FF6D00"/>
          </a:solidFill>
          <a:ln/>
        </p:spPr>
      </p:sp>
      <p:sp>
        <p:nvSpPr>
          <p:cNvPr id="35" name="Shape 27"/>
          <p:cNvSpPr/>
          <p:nvPr/>
        </p:nvSpPr>
        <p:spPr>
          <a:xfrm>
            <a:off x="4096512" y="4233672"/>
            <a:ext cx="274320" cy="2743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36" name="Image 6" descr="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234" y="4295394"/>
            <a:ext cx="150876" cy="1508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425696" y="41148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Buzzer+LED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5852160" y="127101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9" name="Text 30"/>
          <p:cNvSpPr/>
          <p:nvPr/>
        </p:nvSpPr>
        <p:spPr>
          <a:xfrm>
            <a:off x="58521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446520" y="118872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6446520" y="1408176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RFID Card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Card UID is sent to the Pi as a new access request.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5852160" y="2240280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3" name="Text 34"/>
          <p:cNvSpPr/>
          <p:nvPr/>
        </p:nvSpPr>
        <p:spPr>
          <a:xfrm>
            <a:off x="58521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6446520" y="215798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6446520" y="2377440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(Linux OS)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Validates the UID against the student database.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5852160" y="3209544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7" name="Text 38"/>
          <p:cNvSpPr/>
          <p:nvPr/>
        </p:nvSpPr>
        <p:spPr>
          <a:xfrm>
            <a:off x="58521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6446520" y="312724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446520" y="3346704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every record · </a:t>
            </a: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seals each log entry so it cannot be altered.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5852160" y="4178808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51" name="Text 42"/>
          <p:cNvSpPr/>
          <p:nvPr/>
        </p:nvSpPr>
        <p:spPr>
          <a:xfrm>
            <a:off x="58521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6446520" y="409651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6446520" y="4315968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unlocks the item · </a:t>
            </a: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the equipment number · </a:t>
            </a: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Buzzer/LED</a:t>
            </a: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 on denied access.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457200" y="4855464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4F5FA"/>
          </a:solidFill>
          <a:ln/>
        </p:spPr>
      </p:sp>
      <p:sp>
        <p:nvSpPr>
          <p:cNvPr id="55" name="Text 46"/>
          <p:cNvSpPr/>
          <p:nvPr/>
        </p:nvSpPr>
        <p:spPr>
          <a:xfrm>
            <a:off x="594360" y="48554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Processing and Data: Scheduling, Mutex &amp; Resource Allocation run inside the Pi (see previous slide).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4" y="46653"/>
            <a:ext cx="11821886" cy="6435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The Smart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shows the component responsible and exactly what it does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138074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41732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9" name="Image 0" descr="icon_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1524305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362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71600" y="16916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 RFID Reader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8096" y="20208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their RFID card at the reader; the system captures the unique UID.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2697480"/>
            <a:ext cx="0" cy="228600"/>
          </a:xfrm>
          <a:prstGeom prst="line">
            <a:avLst/>
          </a:prstGeom>
          <a:noFill/>
          <a:ln w="22225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292608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92608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303520" y="307238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68096" y="310896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9" name="Image 1" descr="icon_rf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1" y="3215945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1371600" y="33832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+ SQLite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68096" y="37124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verifies the UID against the database to confirm identity and permissions.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154680" y="4389120"/>
            <a:ext cx="0" cy="228600"/>
          </a:xfrm>
          <a:prstGeom prst="line">
            <a:avLst/>
          </a:prstGeom>
          <a:noFill/>
          <a:ln w="22225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548640" y="461772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25" name="Shape 21"/>
          <p:cNvSpPr/>
          <p:nvPr/>
        </p:nvSpPr>
        <p:spPr>
          <a:xfrm>
            <a:off x="548640" y="461772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6" name="Shape 22"/>
          <p:cNvSpPr/>
          <p:nvPr/>
        </p:nvSpPr>
        <p:spPr>
          <a:xfrm>
            <a:off x="5303520" y="476402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7" name="Text 23"/>
          <p:cNvSpPr/>
          <p:nvPr/>
        </p:nvSpPr>
        <p:spPr>
          <a:xfrm>
            <a:off x="530352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68096" y="480060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29" name="Image 2" descr="icon_check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907585"/>
            <a:ext cx="261518" cy="26151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71600" y="4745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1371600" y="5074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768096" y="54041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equipment availability. If occupied, the student joins the FCFS queue.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09360" y="123444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34" name="Shape 29"/>
          <p:cNvSpPr/>
          <p:nvPr/>
        </p:nvSpPr>
        <p:spPr>
          <a:xfrm>
            <a:off x="6309360" y="123444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5" name="Shape 30"/>
          <p:cNvSpPr/>
          <p:nvPr/>
        </p:nvSpPr>
        <p:spPr>
          <a:xfrm>
            <a:off x="11064240" y="138074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36" name="Text 31"/>
          <p:cNvSpPr/>
          <p:nvPr/>
        </p:nvSpPr>
        <p:spPr>
          <a:xfrm>
            <a:off x="11064240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6528816" y="141732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38" name="Image 3" descr="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801" y="1524305"/>
            <a:ext cx="261518" cy="26151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132320" y="1362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450" dirty="0"/>
          </a:p>
        </p:txBody>
      </p:sp>
      <p:sp>
        <p:nvSpPr>
          <p:cNvPr id="40" name="Text 34"/>
          <p:cNvSpPr/>
          <p:nvPr/>
        </p:nvSpPr>
        <p:spPr>
          <a:xfrm>
            <a:off x="7132320" y="16916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Mutex Lock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528816" y="20208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mutex to prevent double allocation, updates the DB, and encrypts the log.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8915400" y="2697480"/>
            <a:ext cx="0" cy="228600"/>
          </a:xfrm>
          <a:prstGeom prst="line">
            <a:avLst/>
          </a:prstGeom>
          <a:noFill/>
          <a:ln w="22225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6309360" y="292608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44" name="Shape 38"/>
          <p:cNvSpPr/>
          <p:nvPr/>
        </p:nvSpPr>
        <p:spPr>
          <a:xfrm>
            <a:off x="6309360" y="292608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5" name="Shape 39"/>
          <p:cNvSpPr/>
          <p:nvPr/>
        </p:nvSpPr>
        <p:spPr>
          <a:xfrm>
            <a:off x="11064240" y="307238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46" name="Text 40"/>
          <p:cNvSpPr/>
          <p:nvPr/>
        </p:nvSpPr>
        <p:spPr>
          <a:xfrm>
            <a:off x="1106424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47" name="Shape 41"/>
          <p:cNvSpPr/>
          <p:nvPr/>
        </p:nvSpPr>
        <p:spPr>
          <a:xfrm>
            <a:off x="6528816" y="310896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48" name="Image 4" descr="icon_un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801" y="3215945"/>
            <a:ext cx="261518" cy="26151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132320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Access</a:t>
            </a:r>
            <a:endParaRPr lang="en-US" sz="1450" dirty="0"/>
          </a:p>
        </p:txBody>
      </p:sp>
      <p:sp>
        <p:nvSpPr>
          <p:cNvPr id="50" name="Text 43"/>
          <p:cNvSpPr/>
          <p:nvPr/>
        </p:nvSpPr>
        <p:spPr>
          <a:xfrm>
            <a:off x="7132320" y="33832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+ LCD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6528816" y="37124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unlocks the equipment station; LCD displays the specific equipment ID.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8915400" y="4389120"/>
            <a:ext cx="0" cy="228600"/>
          </a:xfrm>
          <a:prstGeom prst="line">
            <a:avLst/>
          </a:prstGeom>
          <a:noFill/>
          <a:ln w="22225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53" name="Shape 46"/>
          <p:cNvSpPr/>
          <p:nvPr/>
        </p:nvSpPr>
        <p:spPr>
          <a:xfrm>
            <a:off x="6309360" y="461772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4F5FA"/>
          </a:solidFill>
          <a:ln/>
        </p:spPr>
      </p:sp>
      <p:sp>
        <p:nvSpPr>
          <p:cNvPr id="54" name="Shape 47"/>
          <p:cNvSpPr/>
          <p:nvPr/>
        </p:nvSpPr>
        <p:spPr>
          <a:xfrm>
            <a:off x="6309360" y="4617720"/>
            <a:ext cx="73152" cy="14630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55" name="Shape 48"/>
          <p:cNvSpPr/>
          <p:nvPr/>
        </p:nvSpPr>
        <p:spPr>
          <a:xfrm>
            <a:off x="11064240" y="4764024"/>
            <a:ext cx="310896" cy="31089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56" name="Text 49"/>
          <p:cNvSpPr/>
          <p:nvPr/>
        </p:nvSpPr>
        <p:spPr>
          <a:xfrm>
            <a:off x="1106424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57" name="Shape 50"/>
          <p:cNvSpPr/>
          <p:nvPr/>
        </p:nvSpPr>
        <p:spPr>
          <a:xfrm>
            <a:off x="6528816" y="4800600"/>
            <a:ext cx="475488" cy="47548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58" name="Image 5" descr="icon_return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5801" y="4907585"/>
            <a:ext cx="261518" cy="261518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7132320" y="4745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450" dirty="0"/>
          </a:p>
        </p:txBody>
      </p:sp>
      <p:sp>
        <p:nvSpPr>
          <p:cNvPr id="60" name="Text 52"/>
          <p:cNvSpPr/>
          <p:nvPr/>
        </p:nvSpPr>
        <p:spPr>
          <a:xfrm>
            <a:off x="7132320" y="5074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</a:t>
            </a: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Manager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6528816" y="54041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return, the system updates status and automatically notifies the next student.</a:t>
            </a:r>
            <a:endParaRPr lang="en-US" sz="1050" dirty="0"/>
          </a:p>
        </p:txBody>
      </p:sp>
      <p:sp>
        <p:nvSpPr>
          <p:cNvPr id="62" name="Shape 54"/>
          <p:cNvSpPr/>
          <p:nvPr/>
        </p:nvSpPr>
        <p:spPr>
          <a:xfrm>
            <a:off x="5760720" y="5349240"/>
            <a:ext cx="27432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035040" y="1965960"/>
            <a:ext cx="0" cy="338328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6035040" y="1965960"/>
            <a:ext cx="274320" cy="0"/>
          </a:xfrm>
          <a:prstGeom prst="line">
            <a:avLst/>
          </a:prstGeom>
          <a:noFill/>
          <a:ln w="25400">
            <a:solidFill>
              <a:srgbClr val="FF6D00"/>
            </a:solidFill>
            <a:prstDash val="solid"/>
            <a:tailEnd type="triangle"/>
          </a:ln>
        </p:spPr>
      </p:sp>
      <p:sp>
        <p:nvSpPr>
          <p:cNvPr id="65" name="Text 5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66" name="Text 5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— three situations the system must handle correctly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8728" cy="4800600"/>
          </a:xfrm>
          <a:prstGeom prst="roundRect">
            <a:avLst>
              <a:gd name="adj" fmla="val 2326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3538728" cy="777240"/>
          </a:xfrm>
          <a:prstGeom prst="roundRect">
            <a:avLst>
              <a:gd name="adj" fmla="val 10588"/>
            </a:avLst>
          </a:prstGeom>
          <a:solidFill>
            <a:srgbClr val="2E7D3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38728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6362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1670609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173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ACCESS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4672" y="246888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07008" y="2450592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scans RFID card.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" y="336499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33467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verifies UID and checks availability.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" y="426110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07008" y="4242816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applied; servo unlocks equipment.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5559552"/>
            <a:ext cx="30815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5595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Access Granted &amp; Logged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1417320"/>
            <a:ext cx="3538728" cy="4800600"/>
          </a:xfrm>
          <a:prstGeom prst="roundRect">
            <a:avLst>
              <a:gd name="adj" fmla="val 2326"/>
            </a:avLst>
          </a:prstGeom>
          <a:solidFill>
            <a:srgbClr val="F4F5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343400" y="1417320"/>
            <a:ext cx="3538728" cy="777240"/>
          </a:xfrm>
          <a:prstGeom prst="roundRect">
            <a:avLst>
              <a:gd name="adj" fmla="val 10588"/>
            </a:avLst>
          </a:prstGeom>
          <a:solidFill>
            <a:srgbClr val="F9A825"/>
          </a:solidFill>
          <a:ln/>
        </p:spPr>
      </p:sp>
      <p:sp>
        <p:nvSpPr>
          <p:cNvPr id="23" name="Shape 20"/>
          <p:cNvSpPr/>
          <p:nvPr/>
        </p:nvSpPr>
        <p:spPr>
          <a:xfrm>
            <a:off x="4343400" y="1874520"/>
            <a:ext cx="3538728" cy="320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4" name="Shape 21"/>
          <p:cNvSpPr/>
          <p:nvPr/>
        </p:nvSpPr>
        <p:spPr>
          <a:xfrm>
            <a:off x="4544568" y="156362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icon_wa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553" y="1670609"/>
            <a:ext cx="261518" cy="26151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66360" y="14173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HANDLING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4599432" y="2468880"/>
            <a:ext cx="292608" cy="29260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8" name="Text 24"/>
          <p:cNvSpPr/>
          <p:nvPr/>
        </p:nvSpPr>
        <p:spPr>
          <a:xfrm>
            <a:off x="4599432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01768" y="2450592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 requests occupied oscilloscope.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99432" y="3364992"/>
            <a:ext cx="292608" cy="29260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31" name="Text 27"/>
          <p:cNvSpPr/>
          <p:nvPr/>
        </p:nvSpPr>
        <p:spPr>
          <a:xfrm>
            <a:off x="459943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001768" y="33467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adds Student B to the FCFS queue.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99432" y="4261104"/>
            <a:ext cx="292608" cy="29260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34" name="Text 30"/>
          <p:cNvSpPr/>
          <p:nvPr/>
        </p:nvSpPr>
        <p:spPr>
          <a:xfrm>
            <a:off x="459943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001768" y="4242816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Auto-allocated when Student A returns item.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72000" y="5559552"/>
            <a:ext cx="30815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72000" y="55595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Fair Resource Sharing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8138160" y="1417320"/>
            <a:ext cx="3538728" cy="4800600"/>
          </a:xfrm>
          <a:prstGeom prst="roundRect">
            <a:avLst>
              <a:gd name="adj" fmla="val 2326"/>
            </a:avLst>
          </a:prstGeom>
          <a:solidFill>
            <a:srgbClr val="F4F5FA"/>
          </a:solidFill>
          <a:ln/>
        </p:spPr>
      </p:sp>
      <p:sp>
        <p:nvSpPr>
          <p:cNvPr id="39" name="Shape 35"/>
          <p:cNvSpPr/>
          <p:nvPr/>
        </p:nvSpPr>
        <p:spPr>
          <a:xfrm>
            <a:off x="8138160" y="1417320"/>
            <a:ext cx="3538728" cy="777240"/>
          </a:xfrm>
          <a:prstGeom prst="roundRect">
            <a:avLst>
              <a:gd name="adj" fmla="val 10588"/>
            </a:avLst>
          </a:prstGeom>
          <a:solidFill>
            <a:srgbClr val="C62828"/>
          </a:solidFill>
          <a:ln/>
        </p:spPr>
      </p:sp>
      <p:sp>
        <p:nvSpPr>
          <p:cNvPr id="40" name="Shape 36"/>
          <p:cNvSpPr/>
          <p:nvPr/>
        </p:nvSpPr>
        <p:spPr>
          <a:xfrm>
            <a:off x="8138160" y="1874520"/>
            <a:ext cx="3538728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1" name="Shape 37"/>
          <p:cNvSpPr/>
          <p:nvPr/>
        </p:nvSpPr>
        <p:spPr>
          <a:xfrm>
            <a:off x="8339328" y="156362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icon_deni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313" y="1670609"/>
            <a:ext cx="261518" cy="26151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961120" y="14173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BREACH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8394192" y="2468880"/>
            <a:ext cx="292608" cy="29260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5" name="Text 40"/>
          <p:cNvSpPr/>
          <p:nvPr/>
        </p:nvSpPr>
        <p:spPr>
          <a:xfrm>
            <a:off x="8394192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796528" y="2450592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RFID card is scanned.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8394192" y="3364992"/>
            <a:ext cx="292608" cy="29260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8" name="Text 43"/>
          <p:cNvSpPr/>
          <p:nvPr/>
        </p:nvSpPr>
        <p:spPr>
          <a:xfrm>
            <a:off x="83941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8796528" y="33467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flashes and buzzer activates.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8394192" y="4261104"/>
            <a:ext cx="292608" cy="29260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1" name="Text 46"/>
          <p:cNvSpPr/>
          <p:nvPr/>
        </p:nvSpPr>
        <p:spPr>
          <a:xfrm>
            <a:off x="839419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796528" y="4242816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logged in the AES-encrypted database.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8366760" y="5559552"/>
            <a:ext cx="30815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366760" y="555955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Access Denied &amp; Alerted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Smart Laboratory Equipment Management System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5" name="Shape 3"/>
          <p:cNvSpPr/>
          <p:nvPr/>
        </p:nvSpPr>
        <p:spPr>
          <a:xfrm>
            <a:off x="5532120" y="1371600"/>
            <a:ext cx="1097280" cy="109728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6" name="Image 0" descr="icon_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61848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965960" y="457200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0" name="Image 1" descr="icon_rf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117" y="46851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51389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Auth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069080" y="457200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3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237" y="468515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51389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72200" y="457200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6" name="Image 3" descr="icon_encry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357" y="4685157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2160" y="51389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Encrypted Logs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8275320" y="4572000"/>
            <a:ext cx="502920" cy="502920"/>
          </a:xfrm>
          <a:prstGeom prst="ellipse">
            <a:avLst/>
          </a:prstGeom>
          <a:solidFill>
            <a:srgbClr val="11154F"/>
          </a:solidFill>
          <a:ln/>
        </p:spPr>
      </p:sp>
      <p:pic>
        <p:nvPicPr>
          <p:cNvPr id="19" name="Image 4" descr="icon_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477" y="4685157"/>
            <a:ext cx="276606" cy="2766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55280" y="51389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DBMS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798</Words>
  <Application>Microsoft Office PowerPoint</Application>
  <PresentationFormat>Widescreen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6</cp:revision>
  <dcterms:created xsi:type="dcterms:W3CDTF">2026-07-30T03:13:57Z</dcterms:created>
  <dcterms:modified xsi:type="dcterms:W3CDTF">2026-10-06T08:35:30Z</dcterms:modified>
</cp:coreProperties>
</file>